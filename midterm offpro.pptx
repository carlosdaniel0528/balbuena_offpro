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5407" autoAdjust="0"/>
  </p:normalViewPr>
  <p:slideViewPr>
    <p:cSldViewPr snapToGrid="0">
      <p:cViewPr>
        <p:scale>
          <a:sx n="25" d="100"/>
          <a:sy n="25" d="100"/>
        </p:scale>
        <p:origin x="1026" y="1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2D242-670F-F5B7-3D86-6D1A977224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6C576EEF-68DC-149C-BDE0-1AA94C256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145DCF63-C8B5-408C-AE03-4AE9A581701B}"/>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AE5551A5-BB64-B44B-C45E-FC7D0D1048E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3210C1B-E14B-5A82-6C21-87CA6E5BB3B0}"/>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36907031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B90A-B70D-F2E0-03AF-BF1B6BC9032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47048C3-96CF-6644-1D04-C5FC877113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B8A2346-C94B-AF61-1F38-DDA847F5D3DF}"/>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0E5F20DF-4881-81FE-521E-ECE62D4F22C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4DE29E6-B847-B787-5B63-5D65AA2266AD}"/>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044869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1B90-2682-CE4C-C0AF-782868C4FB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2CFBF2B1-F8AA-2B82-0626-083C931BFB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B4B273-BB99-6CCF-C205-C50F32D708DC}"/>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AABE5CE8-B9BF-D62A-17DC-4EF47CBEE23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F5ACB8D-8728-B5AA-11AB-273814DFEEA5}"/>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72999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C215-56DA-8F5D-0B4C-926F7CD0010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4BB9209-E668-04B0-F95B-F645E7CC97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084E3CC2-1855-65F9-D479-BE660C6079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C198378-8AA2-44AD-DA48-EFF0E906BAA9}"/>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6" name="Footer Placeholder 5">
            <a:extLst>
              <a:ext uri="{FF2B5EF4-FFF2-40B4-BE49-F238E27FC236}">
                <a16:creationId xmlns:a16="http://schemas.microsoft.com/office/drawing/2014/main" id="{AE07AB71-F05A-425D-3804-68849D33AF6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39E9E65-FFBA-6893-4F20-9961AB5E2966}"/>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4163342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8F79-7716-7963-0924-CD4F6C50F6BB}"/>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650CB2A-5BE5-1A1C-A95E-E0374AF8D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6C72F2-ABF3-7295-C084-DF15B6EA0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90B8EF3-5BA4-3FC3-3D78-FD4B4C086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57F7BA-2A32-0E08-2B04-A8CBF1E1D5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22CF8940-50C8-CD46-7E28-F1F86E76C8CE}"/>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8" name="Footer Placeholder 7">
            <a:extLst>
              <a:ext uri="{FF2B5EF4-FFF2-40B4-BE49-F238E27FC236}">
                <a16:creationId xmlns:a16="http://schemas.microsoft.com/office/drawing/2014/main" id="{6F30130B-5DED-1CDA-F230-0A755ABC31EE}"/>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217E8683-23DE-5CE5-3300-437229B1CFD9}"/>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3920264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FF6D-65E0-8F33-1C56-4B56656879B1}"/>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CE7098C-17F2-A239-EF8A-5A54B226DDB4}"/>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4" name="Footer Placeholder 3">
            <a:extLst>
              <a:ext uri="{FF2B5EF4-FFF2-40B4-BE49-F238E27FC236}">
                <a16:creationId xmlns:a16="http://schemas.microsoft.com/office/drawing/2014/main" id="{97B31FD5-EF91-72C4-784D-98E2BF07569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6B888215-32E6-35AB-CA4E-84DC11F4FECD}"/>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767856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6413D7-5D8A-D967-5791-3A082118E229}"/>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3" name="Footer Placeholder 2">
            <a:extLst>
              <a:ext uri="{FF2B5EF4-FFF2-40B4-BE49-F238E27FC236}">
                <a16:creationId xmlns:a16="http://schemas.microsoft.com/office/drawing/2014/main" id="{C1DDBA0C-4D48-0B5B-77F1-B3CAC669B9FD}"/>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2FC248AA-5CAB-BE48-5DE8-9A0869C9AC86}"/>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16687633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39A0-5707-CFCE-B798-5267CC5FDF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B3D8D9F-8193-447C-6114-637C5B0D27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3E20639-DE79-711E-CADE-12C3298658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A2436-C255-3855-1566-A54BC0AE378D}"/>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6" name="Footer Placeholder 5">
            <a:extLst>
              <a:ext uri="{FF2B5EF4-FFF2-40B4-BE49-F238E27FC236}">
                <a16:creationId xmlns:a16="http://schemas.microsoft.com/office/drawing/2014/main" id="{2B2D618A-D740-4477-F826-AD5728032D8D}"/>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B6EE32D-6464-C862-E54A-D7E63ED40EE9}"/>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856957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C7481-D990-D56B-A1D7-C388C8B281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FB0EF256-4474-3546-2E71-DBDEFCA6C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4D8F1558-D873-C729-2C1A-F4586116C5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2A402-A376-80C7-75D3-F9D82CABB292}"/>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6" name="Footer Placeholder 5">
            <a:extLst>
              <a:ext uri="{FF2B5EF4-FFF2-40B4-BE49-F238E27FC236}">
                <a16:creationId xmlns:a16="http://schemas.microsoft.com/office/drawing/2014/main" id="{1BF477A7-EB95-2DE4-4523-EF66A8BCA77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494D21D4-75A1-C1F5-47BD-2B6B41B8C723}"/>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6868433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7AA9-9ADC-924A-65C6-457C262A569B}"/>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6E60D7EC-A995-B417-F928-9C7714FF70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2870D7C-A2F3-B6EE-48CA-23AFEA188FCE}"/>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DAFDC09B-93AB-97F5-F68C-F71D9280693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741D61F-A247-C5CB-0CC4-2B20317F8351}"/>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2991301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01B79-6FC2-BFA7-BA05-5D32A4490A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45DCDAB-0834-A921-A241-39D48A7171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69EC384-015F-DB67-18C4-9A59AF8FE9A7}"/>
              </a:ext>
            </a:extLst>
          </p:cNvPr>
          <p:cNvSpPr>
            <a:spLocks noGrp="1"/>
          </p:cNvSpPr>
          <p:nvPr>
            <p:ph type="dt" sz="half" idx="10"/>
          </p:nvPr>
        </p:nvSpPr>
        <p:spPr/>
        <p:txBody>
          <a:body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68471E27-5BAE-FBF5-8F3C-332C7C4BC2B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57C64D8-8F7F-0B0D-EA81-341C7AF8E5EF}"/>
              </a:ext>
            </a:extLst>
          </p:cNvPr>
          <p:cNvSpPr>
            <a:spLocks noGrp="1"/>
          </p:cNvSpPr>
          <p:nvPr>
            <p:ph type="sldNum" sz="quarter" idx="12"/>
          </p:nvPr>
        </p:nvSpPr>
        <p:spPr/>
        <p:txBody>
          <a:bodyPr/>
          <a:lstStyle/>
          <a:p>
            <a:fld id="{CB629A8C-08D9-4D49-80BF-9989635934CA}" type="slidenum">
              <a:rPr lang="en-PH" smtClean="0"/>
              <a:t>‹#›</a:t>
            </a:fld>
            <a:endParaRPr lang="en-PH"/>
          </a:p>
        </p:txBody>
      </p:sp>
    </p:spTree>
    <p:extLst>
      <p:ext uri="{BB962C8B-B14F-4D97-AF65-F5344CB8AC3E}">
        <p14:creationId xmlns:p14="http://schemas.microsoft.com/office/powerpoint/2010/main" val="11940060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C310A9-9B09-E817-F08F-67C1A1F0E9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9E1334-DB2F-E25C-E350-23DD8F290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6E86711-5047-4943-524C-240AD7120F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8515DE-E2BA-48BD-BA7A-566CE41CD45B}" type="datetimeFigureOut">
              <a:rPr lang="en-PH" smtClean="0"/>
              <a:t>24/05/2023</a:t>
            </a:fld>
            <a:endParaRPr lang="en-PH"/>
          </a:p>
        </p:txBody>
      </p:sp>
      <p:sp>
        <p:nvSpPr>
          <p:cNvPr id="5" name="Footer Placeholder 4">
            <a:extLst>
              <a:ext uri="{FF2B5EF4-FFF2-40B4-BE49-F238E27FC236}">
                <a16:creationId xmlns:a16="http://schemas.microsoft.com/office/drawing/2014/main" id="{BC137882-A433-BCCA-AE7C-8747F58BB4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3BEE6D99-6925-A778-9958-A04DA7CBAA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629A8C-08D9-4D49-80BF-9989635934CA}" type="slidenum">
              <a:rPr lang="en-PH" smtClean="0"/>
              <a:t>‹#›</a:t>
            </a:fld>
            <a:endParaRPr lang="en-PH"/>
          </a:p>
        </p:txBody>
      </p:sp>
    </p:spTree>
    <p:extLst>
      <p:ext uri="{BB962C8B-B14F-4D97-AF65-F5344CB8AC3E}">
        <p14:creationId xmlns:p14="http://schemas.microsoft.com/office/powerpoint/2010/main" val="1093597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4.xml"/><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4.xml"/><Relationship Id="rId4" Type="http://schemas.openxmlformats.org/officeDocument/2006/relationships/image" Target="../media/image4.gif"/></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4.xml"/><Relationship Id="rId4"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E5674E-BC3D-0506-F299-84B60DA4D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0019914B-0643-F598-8085-647CEE253890}"/>
              </a:ext>
            </a:extLst>
          </p:cNvPr>
          <p:cNvSpPr>
            <a:spLocks noGrp="1"/>
          </p:cNvSpPr>
          <p:nvPr>
            <p:ph type="ctrTitle"/>
          </p:nvPr>
        </p:nvSpPr>
        <p:spPr>
          <a:xfrm>
            <a:off x="1524000" y="1827186"/>
            <a:ext cx="9144000" cy="1002272"/>
          </a:xfrm>
        </p:spPr>
        <p:txBody>
          <a:bodyPr>
            <a:noAutofit/>
          </a:bodyPr>
          <a:lstStyle/>
          <a:p>
            <a:r>
              <a:rPr lang="en-US" sz="3500" b="1" i="0" u="none" strike="noStrike" dirty="0">
                <a:ln>
                  <a:solidFill>
                    <a:schemeClr val="tx1"/>
                  </a:solidFill>
                </a:ln>
                <a:solidFill>
                  <a:srgbClr val="FFFF00"/>
                </a:solidFill>
                <a:effectLst/>
                <a:latin typeface="Aharoni" panose="020B0604020202020204" pitchFamily="2" charset="-79"/>
                <a:cs typeface="Aharoni" panose="020B0604020202020204" pitchFamily="2" charset="-79"/>
              </a:rPr>
              <a:t>What Is Information Technology? A Beginner’s Guide to the World of IT.</a:t>
            </a:r>
            <a:endParaRPr lang="en-PH" sz="3500" dirty="0">
              <a:ln>
                <a:solidFill>
                  <a:schemeClr val="tx1"/>
                </a:solidFill>
              </a:ln>
              <a:solidFill>
                <a:srgbClr val="FFFF00"/>
              </a:solidFill>
            </a:endParaRPr>
          </a:p>
        </p:txBody>
      </p:sp>
      <p:sp>
        <p:nvSpPr>
          <p:cNvPr id="3" name="Subtitle 2">
            <a:extLst>
              <a:ext uri="{FF2B5EF4-FFF2-40B4-BE49-F238E27FC236}">
                <a16:creationId xmlns:a16="http://schemas.microsoft.com/office/drawing/2014/main" id="{45724877-A501-387E-9E71-48A0286EC7B2}"/>
              </a:ext>
            </a:extLst>
          </p:cNvPr>
          <p:cNvSpPr>
            <a:spLocks noGrp="1"/>
          </p:cNvSpPr>
          <p:nvPr>
            <p:ph type="subTitle" idx="1"/>
          </p:nvPr>
        </p:nvSpPr>
        <p:spPr>
          <a:xfrm>
            <a:off x="1524000" y="3866652"/>
            <a:ext cx="9144000" cy="1655762"/>
          </a:xfrm>
        </p:spPr>
        <p:txBody>
          <a:bodyPr>
            <a:normAutofit/>
          </a:bodyPr>
          <a:lstStyle/>
          <a:p>
            <a:r>
              <a:rPr lang="en-US" sz="2300" dirty="0">
                <a:solidFill>
                  <a:srgbClr val="FFFF00"/>
                </a:solidFill>
                <a:latin typeface="Calibri" panose="020F0502020204030204" pitchFamily="34" charset="0"/>
              </a:rPr>
              <a:t>I</a:t>
            </a:r>
            <a:r>
              <a:rPr lang="en-US" sz="2300" b="0" i="0" u="none" strike="noStrike" dirty="0">
                <a:solidFill>
                  <a:srgbClr val="FFFF00"/>
                </a:solidFill>
                <a:effectLst/>
                <a:latin typeface="Calibri" panose="020F0502020204030204" pitchFamily="34" charset="0"/>
              </a:rPr>
              <a:t>nformation technology (IT) is basically synonymous with the people you call when you need help with a computer issue. While that view of information technology isn't totally wrong, it drastically understates the scope of this critical career field.</a:t>
            </a:r>
            <a:endParaRPr lang="en-PH" sz="2300" dirty="0">
              <a:solidFill>
                <a:srgbClr val="FFFF00"/>
              </a:solidFill>
            </a:endParaRPr>
          </a:p>
        </p:txBody>
      </p:sp>
      <p:sp>
        <p:nvSpPr>
          <p:cNvPr id="13" name="TextBox 12">
            <a:extLst>
              <a:ext uri="{FF2B5EF4-FFF2-40B4-BE49-F238E27FC236}">
                <a16:creationId xmlns:a16="http://schemas.microsoft.com/office/drawing/2014/main" id="{5449D597-6C89-FCE4-191C-D8FF2F2E4928}"/>
              </a:ext>
            </a:extLst>
          </p:cNvPr>
          <p:cNvSpPr txBox="1"/>
          <p:nvPr/>
        </p:nvSpPr>
        <p:spPr>
          <a:xfrm>
            <a:off x="-8688660" y="2561628"/>
            <a:ext cx="7926660" cy="3170099"/>
          </a:xfrm>
          <a:prstGeom prst="rect">
            <a:avLst/>
          </a:prstGeom>
          <a:noFill/>
        </p:spPr>
        <p:txBody>
          <a:bodyPr wrap="square" rtlCol="0">
            <a:spAutoFit/>
          </a:bodyPr>
          <a:lstStyle/>
          <a:p>
            <a:pPr algn="ctr"/>
            <a:r>
              <a:rPr lang="en-US" sz="2500" dirty="0">
                <a:ln>
                  <a:solidFill>
                    <a:schemeClr val="accent2"/>
                  </a:solidFill>
                </a:ln>
                <a:solidFill>
                  <a:srgbClr val="FFFF00"/>
                </a:solidFill>
              </a:rPr>
              <a:t>The simplest definition of information technology is the widespread application of technology to organizational or business challenges.</a:t>
            </a:r>
          </a:p>
          <a:p>
            <a:pPr algn="ctr"/>
            <a:r>
              <a:rPr lang="en-US" sz="2500" dirty="0">
                <a:ln>
                  <a:solidFill>
                    <a:schemeClr val="accent2"/>
                  </a:solidFill>
                </a:ln>
                <a:solidFill>
                  <a:srgbClr val="FFFF00"/>
                </a:solidFill>
              </a:rPr>
              <a:t>Members of an IT department collaborate with one another to address both major and minor technological issues, regardless of their specific IT roles. The importance of information technology in today's wireless society cannot be overstated.</a:t>
            </a:r>
            <a:endParaRPr lang="en-PH" sz="2500" dirty="0">
              <a:ln>
                <a:solidFill>
                  <a:schemeClr val="accent2"/>
                </a:solidFill>
              </a:ln>
              <a:solidFill>
                <a:srgbClr val="FFFF00"/>
              </a:solidFill>
            </a:endParaRPr>
          </a:p>
        </p:txBody>
      </p:sp>
      <p:sp>
        <p:nvSpPr>
          <p:cNvPr id="15" name="Action Button: Go Forward or Next 14">
            <a:hlinkClick r:id="" action="ppaction://hlinkshowjump?jump=nextslide" highlightClick="1"/>
            <a:extLst>
              <a:ext uri="{FF2B5EF4-FFF2-40B4-BE49-F238E27FC236}">
                <a16:creationId xmlns:a16="http://schemas.microsoft.com/office/drawing/2014/main" id="{FCE752B9-D6FD-53CB-613C-2D1C993010DD}"/>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7307114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EB3572-AFFA-DE0A-D7DB-EEE86846CD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22178" cy="6858000"/>
          </a:xfrm>
        </p:spPr>
      </p:pic>
      <p:sp>
        <p:nvSpPr>
          <p:cNvPr id="2" name="Title 1">
            <a:extLst>
              <a:ext uri="{FF2B5EF4-FFF2-40B4-BE49-F238E27FC236}">
                <a16:creationId xmlns:a16="http://schemas.microsoft.com/office/drawing/2014/main" id="{61D0D4C6-8723-4382-FCBF-884D0E3E746E}"/>
              </a:ext>
            </a:extLst>
          </p:cNvPr>
          <p:cNvSpPr>
            <a:spLocks noGrp="1"/>
          </p:cNvSpPr>
          <p:nvPr>
            <p:ph type="title"/>
          </p:nvPr>
        </p:nvSpPr>
        <p:spPr>
          <a:xfrm>
            <a:off x="838200" y="1027906"/>
            <a:ext cx="10201508" cy="1325563"/>
          </a:xfrm>
        </p:spPr>
        <p:txBody>
          <a:bodyPr>
            <a:noAutofit/>
          </a:bodyPr>
          <a:lstStyle/>
          <a:p>
            <a:pPr algn="ctr"/>
            <a:r>
              <a:rPr lang="en-US" sz="5000" b="1" i="0" u="none" strike="noStrike" dirty="0">
                <a:ln>
                  <a:solidFill>
                    <a:schemeClr val="tx1"/>
                  </a:solidFill>
                </a:ln>
                <a:solidFill>
                  <a:srgbClr val="FFFF00"/>
                </a:solidFill>
                <a:effectLst/>
                <a:latin typeface="Calibri" panose="020F0502020204030204" pitchFamily="34" charset="0"/>
              </a:rPr>
              <a:t>What is information technology and what does it encompass?</a:t>
            </a:r>
            <a:endParaRPr lang="en-PH" sz="5000" dirty="0">
              <a:ln>
                <a:solidFill>
                  <a:schemeClr val="tx1"/>
                </a:solidFill>
              </a:ln>
              <a:solidFill>
                <a:srgbClr val="FFFF00"/>
              </a:solidFill>
            </a:endParaRPr>
          </a:p>
        </p:txBody>
      </p:sp>
      <p:sp>
        <p:nvSpPr>
          <p:cNvPr id="9" name="TextBox 8">
            <a:extLst>
              <a:ext uri="{FF2B5EF4-FFF2-40B4-BE49-F238E27FC236}">
                <a16:creationId xmlns:a16="http://schemas.microsoft.com/office/drawing/2014/main" id="{B8BA6CB2-D298-42B5-9012-3D538AF224F5}"/>
              </a:ext>
            </a:extLst>
          </p:cNvPr>
          <p:cNvSpPr txBox="1"/>
          <p:nvPr/>
        </p:nvSpPr>
        <p:spPr>
          <a:xfrm>
            <a:off x="1975624" y="2564745"/>
            <a:ext cx="7926660" cy="3170099"/>
          </a:xfrm>
          <a:prstGeom prst="rect">
            <a:avLst/>
          </a:prstGeom>
          <a:noFill/>
        </p:spPr>
        <p:txBody>
          <a:bodyPr wrap="square" rtlCol="0">
            <a:spAutoFit/>
          </a:bodyPr>
          <a:lstStyle/>
          <a:p>
            <a:pPr algn="ctr"/>
            <a:r>
              <a:rPr lang="en-US" sz="2500" dirty="0">
                <a:ln>
                  <a:solidFill>
                    <a:schemeClr val="accent2"/>
                  </a:solidFill>
                </a:ln>
                <a:solidFill>
                  <a:srgbClr val="FFFF00"/>
                </a:solidFill>
              </a:rPr>
              <a:t>The simplest definition of information technology is the widespread application of technology to organizational or business challenges.</a:t>
            </a:r>
          </a:p>
          <a:p>
            <a:pPr algn="ctr"/>
            <a:r>
              <a:rPr lang="en-US" sz="2500" dirty="0">
                <a:ln>
                  <a:solidFill>
                    <a:schemeClr val="accent2"/>
                  </a:solidFill>
                </a:ln>
                <a:solidFill>
                  <a:srgbClr val="FFFF00"/>
                </a:solidFill>
              </a:rPr>
              <a:t>Members of an IT department collaborate with one another to address both major and minor technological issues, regardless of their specific IT roles. The importance of information technology in today's wireless society cannot be overstated.</a:t>
            </a:r>
            <a:endParaRPr lang="en-PH" sz="2500" dirty="0">
              <a:ln>
                <a:solidFill>
                  <a:schemeClr val="accent2"/>
                </a:solidFill>
              </a:ln>
              <a:solidFill>
                <a:srgbClr val="FFFF00"/>
              </a:solidFill>
            </a:endParaRPr>
          </a:p>
        </p:txBody>
      </p:sp>
      <p:sp>
        <p:nvSpPr>
          <p:cNvPr id="13" name="Action Button: Go Back or Previous 12">
            <a:hlinkClick r:id="" action="ppaction://hlinkshowjump?jump=previousslide" highlightClick="1"/>
            <a:extLst>
              <a:ext uri="{FF2B5EF4-FFF2-40B4-BE49-F238E27FC236}">
                <a16:creationId xmlns:a16="http://schemas.microsoft.com/office/drawing/2014/main" id="{1FF68B7A-6D2F-2195-4F46-4CB903112FD2}"/>
              </a:ext>
            </a:extLst>
          </p:cNvPr>
          <p:cNvSpPr/>
          <p:nvPr/>
        </p:nvSpPr>
        <p:spPr>
          <a:xfrm>
            <a:off x="796412" y="5834698"/>
            <a:ext cx="727588" cy="483274"/>
          </a:xfrm>
          <a:prstGeom prst="actionButtonBackPrevious">
            <a:avLst/>
          </a:prstGeom>
          <a:gradFill>
            <a:gsLst>
              <a:gs pos="0">
                <a:schemeClr val="accent2"/>
              </a:gs>
              <a:gs pos="50000">
                <a:schemeClr val="accent1">
                  <a:lumMod val="97000"/>
                  <a:lumOff val="3000"/>
                </a:schemeClr>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4" name="Action Button: Go Forward or Next 13">
            <a:hlinkClick r:id="" action="ppaction://hlinkshowjump?jump=nextslide" highlightClick="1"/>
            <a:extLst>
              <a:ext uri="{FF2B5EF4-FFF2-40B4-BE49-F238E27FC236}">
                <a16:creationId xmlns:a16="http://schemas.microsoft.com/office/drawing/2014/main" id="{F26E782F-1BC6-F579-2E68-C2837C092B00}"/>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Content Placeholder 2">
            <a:extLst>
              <a:ext uri="{FF2B5EF4-FFF2-40B4-BE49-F238E27FC236}">
                <a16:creationId xmlns:a16="http://schemas.microsoft.com/office/drawing/2014/main" id="{559D4E4C-5A4D-947E-9F02-41CE6642790B}"/>
              </a:ext>
            </a:extLst>
          </p:cNvPr>
          <p:cNvSpPr txBox="1">
            <a:spLocks/>
          </p:cNvSpPr>
          <p:nvPr/>
        </p:nvSpPr>
        <p:spPr>
          <a:xfrm>
            <a:off x="1378221" y="7914691"/>
            <a:ext cx="9465736" cy="260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dirty="0">
                <a:ln>
                  <a:solidFill>
                    <a:schemeClr val="accent2"/>
                  </a:solidFill>
                </a:ln>
                <a:solidFill>
                  <a:srgbClr val="FFFF00"/>
                </a:solidFill>
                <a:latin typeface="Calibri" panose="020F0502020204030204" pitchFamily="34" charset="0"/>
              </a:rPr>
              <a:t>This refers to the combination of policies and processes that ensure IT systems are effectively run and in alignment with the organization's needs.</a:t>
            </a:r>
            <a:endParaRPr lang="en-PH" sz="4400" dirty="0">
              <a:ln>
                <a:solidFill>
                  <a:schemeClr val="accent2"/>
                </a:solidFill>
              </a:ln>
              <a:solidFill>
                <a:srgbClr val="FFFF00"/>
              </a:solidFill>
            </a:endParaRPr>
          </a:p>
        </p:txBody>
      </p:sp>
      <p:sp>
        <p:nvSpPr>
          <p:cNvPr id="16" name="Title 1">
            <a:extLst>
              <a:ext uri="{FF2B5EF4-FFF2-40B4-BE49-F238E27FC236}">
                <a16:creationId xmlns:a16="http://schemas.microsoft.com/office/drawing/2014/main" id="{7C6CE475-D42C-3FB4-84F1-ACD16BE00922}"/>
              </a:ext>
            </a:extLst>
          </p:cNvPr>
          <p:cNvSpPr txBox="1">
            <a:spLocks/>
          </p:cNvSpPr>
          <p:nvPr/>
        </p:nvSpPr>
        <p:spPr>
          <a:xfrm>
            <a:off x="2541908" y="-2093982"/>
            <a:ext cx="679409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sz="5000" b="1">
                <a:ln>
                  <a:solidFill>
                    <a:schemeClr val="tx1"/>
                  </a:solidFill>
                </a:ln>
                <a:solidFill>
                  <a:srgbClr val="FFFF00"/>
                </a:solidFill>
                <a:latin typeface="Calibri" panose="020F0502020204030204" pitchFamily="34" charset="0"/>
              </a:rPr>
              <a:t>IT governance:</a:t>
            </a:r>
            <a:endParaRPr lang="en-PH" sz="5000" b="1" dirty="0">
              <a:ln>
                <a:solidFill>
                  <a:schemeClr val="tx1"/>
                </a:solidFill>
              </a:ln>
              <a:solidFill>
                <a:srgbClr val="FFFF00"/>
              </a:solidFill>
            </a:endParaRPr>
          </a:p>
        </p:txBody>
      </p:sp>
    </p:spTree>
    <p:extLst>
      <p:ext uri="{BB962C8B-B14F-4D97-AF65-F5344CB8AC3E}">
        <p14:creationId xmlns:p14="http://schemas.microsoft.com/office/powerpoint/2010/main" val="4861427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Word"/>
      </p:transition>
    </mc:Choice>
    <mc:Fallback>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5338658-4F1D-30C6-65BA-994A18736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0DFF250C-E01E-2C38-80BC-CA657B817D88}"/>
              </a:ext>
            </a:extLst>
          </p:cNvPr>
          <p:cNvSpPr>
            <a:spLocks noGrp="1"/>
          </p:cNvSpPr>
          <p:nvPr>
            <p:ph type="title"/>
          </p:nvPr>
        </p:nvSpPr>
        <p:spPr/>
        <p:txBody>
          <a:bodyPr>
            <a:normAutofit/>
          </a:bodyPr>
          <a:lstStyle/>
          <a:p>
            <a:pPr algn="ctr"/>
            <a:r>
              <a:rPr lang="en-PH" sz="5000" b="1" i="0" u="none" strike="noStrike" dirty="0">
                <a:ln>
                  <a:solidFill>
                    <a:schemeClr val="tx1"/>
                  </a:solidFill>
                </a:ln>
                <a:solidFill>
                  <a:srgbClr val="FFFF00"/>
                </a:solidFill>
                <a:effectLst/>
                <a:latin typeface="Calibri" panose="020F0502020204030204" pitchFamily="34" charset="0"/>
              </a:rPr>
              <a:t>IT governance:</a:t>
            </a:r>
            <a:endParaRPr lang="en-PH" sz="5000" b="1" dirty="0">
              <a:ln>
                <a:solidFill>
                  <a:schemeClr val="tx1"/>
                </a:solidFill>
              </a:ln>
              <a:solidFill>
                <a:srgbClr val="FFFF00"/>
              </a:solidFill>
            </a:endParaRPr>
          </a:p>
        </p:txBody>
      </p:sp>
      <p:sp>
        <p:nvSpPr>
          <p:cNvPr id="3" name="Content Placeholder 2">
            <a:extLst>
              <a:ext uri="{FF2B5EF4-FFF2-40B4-BE49-F238E27FC236}">
                <a16:creationId xmlns:a16="http://schemas.microsoft.com/office/drawing/2014/main" id="{AC5082AF-2964-969E-479F-E9213C46649E}"/>
              </a:ext>
            </a:extLst>
          </p:cNvPr>
          <p:cNvSpPr>
            <a:spLocks noGrp="1"/>
          </p:cNvSpPr>
          <p:nvPr>
            <p:ph idx="1"/>
          </p:nvPr>
        </p:nvSpPr>
        <p:spPr>
          <a:xfrm>
            <a:off x="838200" y="1825625"/>
            <a:ext cx="10515600" cy="2982349"/>
          </a:xfrm>
        </p:spPr>
        <p:txBody>
          <a:bodyPr>
            <a:normAutofit/>
          </a:bodyPr>
          <a:lstStyle/>
          <a:p>
            <a:pPr marL="0" indent="0" algn="ctr">
              <a:buNone/>
            </a:pPr>
            <a:r>
              <a:rPr lang="en-US" sz="4400" b="0" i="0" u="none" strike="noStrike" dirty="0">
                <a:ln>
                  <a:solidFill>
                    <a:schemeClr val="accent2"/>
                  </a:solidFill>
                </a:ln>
                <a:solidFill>
                  <a:srgbClr val="FFFF00"/>
                </a:solidFill>
                <a:effectLst/>
                <a:latin typeface="Calibri" panose="020F0502020204030204" pitchFamily="34" charset="0"/>
              </a:rPr>
              <a:t>This refers to the combination of policies and processes that ensure IT systems are effectively run and in alignment with the organization's needs.</a:t>
            </a:r>
            <a:endParaRPr lang="en-PH" sz="4400" dirty="0">
              <a:ln>
                <a:solidFill>
                  <a:schemeClr val="accent2"/>
                </a:solidFill>
              </a:ln>
              <a:solidFill>
                <a:srgbClr val="FFFF00"/>
              </a:solidFill>
            </a:endParaRPr>
          </a:p>
        </p:txBody>
      </p:sp>
      <p:sp>
        <p:nvSpPr>
          <p:cNvPr id="4" name="Action Button: Go Forward or Next 3">
            <a:hlinkClick r:id="" action="ppaction://hlinkshowjump?jump=nextslide" highlightClick="1"/>
            <a:extLst>
              <a:ext uri="{FF2B5EF4-FFF2-40B4-BE49-F238E27FC236}">
                <a16:creationId xmlns:a16="http://schemas.microsoft.com/office/drawing/2014/main" id="{70D6D702-FD5B-922F-EC0B-24B3120EFA04}"/>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Action Button: Go Back or Previous 4">
            <a:hlinkClick r:id="" action="ppaction://hlinkshowjump?jump=previousslide" highlightClick="1"/>
            <a:extLst>
              <a:ext uri="{FF2B5EF4-FFF2-40B4-BE49-F238E27FC236}">
                <a16:creationId xmlns:a16="http://schemas.microsoft.com/office/drawing/2014/main" id="{88735D64-D624-628E-5A88-DB7AA0D540D8}"/>
              </a:ext>
            </a:extLst>
          </p:cNvPr>
          <p:cNvSpPr/>
          <p:nvPr/>
        </p:nvSpPr>
        <p:spPr>
          <a:xfrm>
            <a:off x="796412" y="5834698"/>
            <a:ext cx="727588" cy="483274"/>
          </a:xfrm>
          <a:prstGeom prst="actionButtonBackPrevious">
            <a:avLst/>
          </a:prstGeom>
          <a:gradFill>
            <a:gsLst>
              <a:gs pos="0">
                <a:schemeClr val="accent2"/>
              </a:gs>
              <a:gs pos="50000">
                <a:schemeClr val="accent1">
                  <a:lumMod val="97000"/>
                  <a:lumOff val="3000"/>
                </a:schemeClr>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itle 1">
            <a:extLst>
              <a:ext uri="{FF2B5EF4-FFF2-40B4-BE49-F238E27FC236}">
                <a16:creationId xmlns:a16="http://schemas.microsoft.com/office/drawing/2014/main" id="{3106DE09-A598-1332-26BC-1650498D982A}"/>
              </a:ext>
            </a:extLst>
          </p:cNvPr>
          <p:cNvSpPr txBox="1">
            <a:spLocks/>
          </p:cNvSpPr>
          <p:nvPr/>
        </p:nvSpPr>
        <p:spPr>
          <a:xfrm>
            <a:off x="4195027" y="8110230"/>
            <a:ext cx="38321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sz="5000" b="1">
                <a:ln>
                  <a:solidFill>
                    <a:schemeClr val="tx1"/>
                  </a:solidFill>
                </a:ln>
                <a:solidFill>
                  <a:srgbClr val="FFFF00"/>
                </a:solidFill>
                <a:latin typeface="Calibri" panose="020F0502020204030204" pitchFamily="34" charset="0"/>
              </a:rPr>
              <a:t>IT operations:</a:t>
            </a:r>
            <a:endParaRPr lang="en-PH" sz="5000" b="1" dirty="0">
              <a:ln>
                <a:solidFill>
                  <a:schemeClr val="tx1"/>
                </a:solidFill>
              </a:ln>
              <a:solidFill>
                <a:srgbClr val="FFFF00"/>
              </a:solidFill>
            </a:endParaRPr>
          </a:p>
        </p:txBody>
      </p:sp>
      <p:sp>
        <p:nvSpPr>
          <p:cNvPr id="8" name="Content Placeholder 2">
            <a:extLst>
              <a:ext uri="{FF2B5EF4-FFF2-40B4-BE49-F238E27FC236}">
                <a16:creationId xmlns:a16="http://schemas.microsoft.com/office/drawing/2014/main" id="{1474BF1E-3F75-199C-AA33-316FF0887FD5}"/>
              </a:ext>
            </a:extLst>
          </p:cNvPr>
          <p:cNvSpPr txBox="1">
            <a:spLocks/>
          </p:cNvSpPr>
          <p:nvPr/>
        </p:nvSpPr>
        <p:spPr>
          <a:xfrm>
            <a:off x="13060378" y="1678141"/>
            <a:ext cx="10599176" cy="31298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dirty="0">
                <a:ln>
                  <a:solidFill>
                    <a:schemeClr val="accent2"/>
                  </a:solidFill>
                </a:ln>
                <a:solidFill>
                  <a:srgbClr val="FFFF00"/>
                </a:solidFill>
                <a:latin typeface="Calibri" panose="020F0502020204030204" pitchFamily="34" charset="0"/>
              </a:rPr>
              <a:t>This is a catchall category for the daily work of an IT department. This includes providing tech support, network maintenance, communication protocols, security testing and device management duties.</a:t>
            </a:r>
            <a:endParaRPr lang="en-PH" sz="4400" dirty="0">
              <a:ln>
                <a:solidFill>
                  <a:schemeClr val="accent2"/>
                </a:solidFill>
              </a:ln>
              <a:solidFill>
                <a:srgbClr val="FFFF00"/>
              </a:solidFill>
            </a:endParaRPr>
          </a:p>
        </p:txBody>
      </p:sp>
    </p:spTree>
    <p:extLst>
      <p:ext uri="{BB962C8B-B14F-4D97-AF65-F5344CB8AC3E}">
        <p14:creationId xmlns:p14="http://schemas.microsoft.com/office/powerpoint/2010/main" val="33431820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5338658-4F1D-30C6-65BA-994A18736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0DFF250C-E01E-2C38-80BC-CA657B817D88}"/>
              </a:ext>
            </a:extLst>
          </p:cNvPr>
          <p:cNvSpPr>
            <a:spLocks noGrp="1"/>
          </p:cNvSpPr>
          <p:nvPr>
            <p:ph type="title"/>
          </p:nvPr>
        </p:nvSpPr>
        <p:spPr>
          <a:xfrm>
            <a:off x="4195027" y="500062"/>
            <a:ext cx="3832123" cy="1325563"/>
          </a:xfrm>
        </p:spPr>
        <p:txBody>
          <a:bodyPr>
            <a:normAutofit/>
          </a:bodyPr>
          <a:lstStyle/>
          <a:p>
            <a:pPr algn="ctr"/>
            <a:r>
              <a:rPr lang="en-PH" sz="5000" b="1" i="0" u="none" strike="noStrike" dirty="0">
                <a:ln>
                  <a:solidFill>
                    <a:schemeClr val="tx1"/>
                  </a:solidFill>
                </a:ln>
                <a:solidFill>
                  <a:srgbClr val="FFFF00"/>
                </a:solidFill>
                <a:effectLst/>
                <a:latin typeface="Calibri" panose="020F0502020204030204" pitchFamily="34" charset="0"/>
              </a:rPr>
              <a:t>IT operations:</a:t>
            </a:r>
            <a:endParaRPr lang="en-PH" sz="5000" b="1" dirty="0">
              <a:ln>
                <a:solidFill>
                  <a:schemeClr val="tx1"/>
                </a:solidFill>
              </a:ln>
              <a:solidFill>
                <a:srgbClr val="FFFF00"/>
              </a:solidFill>
            </a:endParaRPr>
          </a:p>
        </p:txBody>
      </p:sp>
      <p:sp>
        <p:nvSpPr>
          <p:cNvPr id="3" name="Content Placeholder 2">
            <a:extLst>
              <a:ext uri="{FF2B5EF4-FFF2-40B4-BE49-F238E27FC236}">
                <a16:creationId xmlns:a16="http://schemas.microsoft.com/office/drawing/2014/main" id="{AC5082AF-2964-969E-479F-E9213C46649E}"/>
              </a:ext>
            </a:extLst>
          </p:cNvPr>
          <p:cNvSpPr>
            <a:spLocks noGrp="1"/>
          </p:cNvSpPr>
          <p:nvPr>
            <p:ph idx="1"/>
          </p:nvPr>
        </p:nvSpPr>
        <p:spPr>
          <a:xfrm>
            <a:off x="796412" y="1825625"/>
            <a:ext cx="10599176" cy="3129833"/>
          </a:xfrm>
        </p:spPr>
        <p:txBody>
          <a:bodyPr>
            <a:normAutofit/>
          </a:bodyPr>
          <a:lstStyle/>
          <a:p>
            <a:pPr marL="0" indent="0" algn="ctr">
              <a:buNone/>
            </a:pPr>
            <a:r>
              <a:rPr lang="en-US" sz="4400" b="0" i="0" u="none" strike="noStrike" dirty="0">
                <a:ln>
                  <a:solidFill>
                    <a:schemeClr val="accent2"/>
                  </a:solidFill>
                </a:ln>
                <a:solidFill>
                  <a:srgbClr val="FFFF00"/>
                </a:solidFill>
                <a:effectLst/>
                <a:latin typeface="Calibri" panose="020F0502020204030204" pitchFamily="34" charset="0"/>
              </a:rPr>
              <a:t>This is a catchall category for the daily work of an IT department. This includes providing tech support, network maintenance, communication protocols, security testing and device management duties.</a:t>
            </a:r>
            <a:endParaRPr lang="en-PH" sz="4400" dirty="0">
              <a:ln>
                <a:solidFill>
                  <a:schemeClr val="accent2"/>
                </a:solidFill>
              </a:ln>
              <a:solidFill>
                <a:srgbClr val="FFFF00"/>
              </a:solidFill>
            </a:endParaRPr>
          </a:p>
        </p:txBody>
      </p:sp>
      <p:sp>
        <p:nvSpPr>
          <p:cNvPr id="4" name="Action Button: Go Forward or Next 3">
            <a:hlinkClick r:id="" action="ppaction://hlinkshowjump?jump=nextslide" highlightClick="1"/>
            <a:extLst>
              <a:ext uri="{FF2B5EF4-FFF2-40B4-BE49-F238E27FC236}">
                <a16:creationId xmlns:a16="http://schemas.microsoft.com/office/drawing/2014/main" id="{70D6D702-FD5B-922F-EC0B-24B3120EFA04}"/>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Action Button: Go Back or Previous 4">
            <a:hlinkClick r:id="" action="ppaction://hlinkshowjump?jump=previousslide" highlightClick="1"/>
            <a:extLst>
              <a:ext uri="{FF2B5EF4-FFF2-40B4-BE49-F238E27FC236}">
                <a16:creationId xmlns:a16="http://schemas.microsoft.com/office/drawing/2014/main" id="{88735D64-D624-628E-5A88-DB7AA0D540D8}"/>
              </a:ext>
            </a:extLst>
          </p:cNvPr>
          <p:cNvSpPr/>
          <p:nvPr/>
        </p:nvSpPr>
        <p:spPr>
          <a:xfrm>
            <a:off x="796412" y="5834698"/>
            <a:ext cx="727588" cy="483274"/>
          </a:xfrm>
          <a:prstGeom prst="actionButtonBackPrevious">
            <a:avLst/>
          </a:prstGeom>
          <a:gradFill>
            <a:gsLst>
              <a:gs pos="0">
                <a:schemeClr val="accent2"/>
              </a:gs>
              <a:gs pos="50000">
                <a:schemeClr val="accent1">
                  <a:lumMod val="97000"/>
                  <a:lumOff val="3000"/>
                </a:schemeClr>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24739834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5338658-4F1D-30C6-65BA-994A18736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0DFF250C-E01E-2C38-80BC-CA657B817D88}"/>
              </a:ext>
            </a:extLst>
          </p:cNvPr>
          <p:cNvSpPr>
            <a:spLocks noGrp="1"/>
          </p:cNvSpPr>
          <p:nvPr>
            <p:ph type="title"/>
          </p:nvPr>
        </p:nvSpPr>
        <p:spPr>
          <a:xfrm>
            <a:off x="3235050" y="500062"/>
            <a:ext cx="5715889" cy="1325563"/>
          </a:xfrm>
        </p:spPr>
        <p:txBody>
          <a:bodyPr>
            <a:normAutofit fontScale="90000"/>
          </a:bodyPr>
          <a:lstStyle/>
          <a:p>
            <a:pPr algn="ctr"/>
            <a:r>
              <a:rPr lang="en-PH" sz="5000" b="1" dirty="0">
                <a:ln>
                  <a:solidFill>
                    <a:schemeClr val="tx1"/>
                  </a:solidFill>
                </a:ln>
                <a:solidFill>
                  <a:srgbClr val="FFFF00"/>
                </a:solidFill>
                <a:latin typeface="Calibri" panose="020F0502020204030204" pitchFamily="34" charset="0"/>
              </a:rPr>
              <a:t>Hardware and Software </a:t>
            </a:r>
            <a:r>
              <a:rPr lang="en-PH" sz="5000" b="1" dirty="0" err="1">
                <a:ln>
                  <a:solidFill>
                    <a:schemeClr val="tx1"/>
                  </a:solidFill>
                </a:ln>
                <a:solidFill>
                  <a:srgbClr val="FFFF00"/>
                </a:solidFill>
                <a:latin typeface="Calibri" panose="020F0502020204030204" pitchFamily="34" charset="0"/>
              </a:rPr>
              <a:t>Infastructure</a:t>
            </a:r>
            <a:endParaRPr lang="en-PH" sz="5000" b="1" dirty="0">
              <a:ln>
                <a:solidFill>
                  <a:schemeClr val="tx1"/>
                </a:solidFill>
              </a:ln>
              <a:solidFill>
                <a:srgbClr val="FFFF00"/>
              </a:solidFill>
            </a:endParaRPr>
          </a:p>
        </p:txBody>
      </p:sp>
      <p:sp>
        <p:nvSpPr>
          <p:cNvPr id="3" name="Content Placeholder 2">
            <a:extLst>
              <a:ext uri="{FF2B5EF4-FFF2-40B4-BE49-F238E27FC236}">
                <a16:creationId xmlns:a16="http://schemas.microsoft.com/office/drawing/2014/main" id="{AC5082AF-2964-969E-479F-E9213C46649E}"/>
              </a:ext>
            </a:extLst>
          </p:cNvPr>
          <p:cNvSpPr>
            <a:spLocks noGrp="1"/>
          </p:cNvSpPr>
          <p:nvPr>
            <p:ph idx="1"/>
          </p:nvPr>
        </p:nvSpPr>
        <p:spPr>
          <a:xfrm>
            <a:off x="796412" y="1825625"/>
            <a:ext cx="10599176" cy="3129833"/>
          </a:xfrm>
        </p:spPr>
        <p:txBody>
          <a:bodyPr>
            <a:noAutofit/>
          </a:bodyPr>
          <a:lstStyle/>
          <a:p>
            <a:pPr marL="0" indent="0" algn="ctr">
              <a:buNone/>
            </a:pPr>
            <a:r>
              <a:rPr lang="en-US" sz="4400" b="0" i="0" u="none" strike="noStrike" dirty="0">
                <a:ln>
                  <a:solidFill>
                    <a:schemeClr val="accent2"/>
                  </a:solidFill>
                </a:ln>
                <a:solidFill>
                  <a:srgbClr val="FFFF00"/>
                </a:solidFill>
                <a:effectLst/>
                <a:latin typeface="Calibri" panose="020F0502020204030204" pitchFamily="34" charset="0"/>
              </a:rPr>
              <a:t> This focus area refers to all the physical components of IT infrastructure. This pillar of IT includes the setup and maintenance of equipment like routers, servers, phone systems and inventory control - including individual devices like laptops.</a:t>
            </a:r>
            <a:endParaRPr lang="en-PH" sz="4400" dirty="0">
              <a:ln>
                <a:solidFill>
                  <a:schemeClr val="accent2"/>
                </a:solidFill>
              </a:ln>
              <a:solidFill>
                <a:srgbClr val="FFFF00"/>
              </a:solidFill>
            </a:endParaRPr>
          </a:p>
        </p:txBody>
      </p:sp>
      <p:sp>
        <p:nvSpPr>
          <p:cNvPr id="4" name="Action Button: Go Forward or Next 3">
            <a:hlinkClick r:id="" action="ppaction://hlinkshowjump?jump=nextslide" highlightClick="1"/>
            <a:extLst>
              <a:ext uri="{FF2B5EF4-FFF2-40B4-BE49-F238E27FC236}">
                <a16:creationId xmlns:a16="http://schemas.microsoft.com/office/drawing/2014/main" id="{70D6D702-FD5B-922F-EC0B-24B3120EFA04}"/>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Action Button: Go Back or Previous 4">
            <a:hlinkClick r:id="" action="ppaction://hlinkshowjump?jump=previousslide" highlightClick="1"/>
            <a:extLst>
              <a:ext uri="{FF2B5EF4-FFF2-40B4-BE49-F238E27FC236}">
                <a16:creationId xmlns:a16="http://schemas.microsoft.com/office/drawing/2014/main" id="{88735D64-D624-628E-5A88-DB7AA0D540D8}"/>
              </a:ext>
            </a:extLst>
          </p:cNvPr>
          <p:cNvSpPr/>
          <p:nvPr/>
        </p:nvSpPr>
        <p:spPr>
          <a:xfrm>
            <a:off x="796412" y="5834698"/>
            <a:ext cx="727588" cy="483274"/>
          </a:xfrm>
          <a:prstGeom prst="actionButtonBackPrevious">
            <a:avLst/>
          </a:prstGeom>
          <a:gradFill>
            <a:gsLst>
              <a:gs pos="0">
                <a:schemeClr val="accent2"/>
              </a:gs>
              <a:gs pos="50000">
                <a:schemeClr val="accent1">
                  <a:lumMod val="97000"/>
                  <a:lumOff val="3000"/>
                </a:schemeClr>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22163657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5338658-4F1D-30C6-65BA-994A18736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0DFF250C-E01E-2C38-80BC-CA657B817D88}"/>
              </a:ext>
            </a:extLst>
          </p:cNvPr>
          <p:cNvSpPr>
            <a:spLocks noGrp="1"/>
          </p:cNvSpPr>
          <p:nvPr>
            <p:ph type="title"/>
          </p:nvPr>
        </p:nvSpPr>
        <p:spPr>
          <a:xfrm>
            <a:off x="4195027" y="500062"/>
            <a:ext cx="3832123" cy="1325563"/>
          </a:xfrm>
        </p:spPr>
        <p:txBody>
          <a:bodyPr>
            <a:normAutofit/>
          </a:bodyPr>
          <a:lstStyle/>
          <a:p>
            <a:pPr algn="ctr"/>
            <a:r>
              <a:rPr lang="en-PH" sz="5000" b="1" i="0" u="none" strike="noStrike" dirty="0">
                <a:ln>
                  <a:solidFill>
                    <a:schemeClr val="tx1"/>
                  </a:solidFill>
                </a:ln>
                <a:solidFill>
                  <a:srgbClr val="FFFF00"/>
                </a:solidFill>
                <a:effectLst/>
                <a:latin typeface="Calibri" panose="020F0502020204030204" pitchFamily="34" charset="0"/>
              </a:rPr>
              <a:t>IT operations:</a:t>
            </a:r>
            <a:endParaRPr lang="en-PH" sz="5000" b="1" dirty="0">
              <a:ln>
                <a:solidFill>
                  <a:schemeClr val="tx1"/>
                </a:solidFill>
              </a:ln>
              <a:solidFill>
                <a:srgbClr val="FFFF00"/>
              </a:solidFill>
            </a:endParaRPr>
          </a:p>
        </p:txBody>
      </p:sp>
      <p:sp>
        <p:nvSpPr>
          <p:cNvPr id="3" name="Content Placeholder 2">
            <a:extLst>
              <a:ext uri="{FF2B5EF4-FFF2-40B4-BE49-F238E27FC236}">
                <a16:creationId xmlns:a16="http://schemas.microsoft.com/office/drawing/2014/main" id="{AC5082AF-2964-969E-479F-E9213C46649E}"/>
              </a:ext>
            </a:extLst>
          </p:cNvPr>
          <p:cNvSpPr>
            <a:spLocks noGrp="1"/>
          </p:cNvSpPr>
          <p:nvPr>
            <p:ph idx="1"/>
          </p:nvPr>
        </p:nvSpPr>
        <p:spPr>
          <a:xfrm>
            <a:off x="796412" y="1825625"/>
            <a:ext cx="10599176" cy="3129833"/>
          </a:xfrm>
        </p:spPr>
        <p:txBody>
          <a:bodyPr>
            <a:normAutofit/>
          </a:bodyPr>
          <a:lstStyle/>
          <a:p>
            <a:pPr marL="0" indent="0" algn="ctr">
              <a:buNone/>
            </a:pPr>
            <a:r>
              <a:rPr lang="en-US" sz="4400" b="0" i="0" u="none" strike="noStrike" dirty="0">
                <a:ln>
                  <a:solidFill>
                    <a:schemeClr val="accent2"/>
                  </a:solidFill>
                </a:ln>
                <a:solidFill>
                  <a:srgbClr val="FFFF00"/>
                </a:solidFill>
                <a:effectLst/>
                <a:latin typeface="Calibri" panose="020F0502020204030204" pitchFamily="34" charset="0"/>
              </a:rPr>
              <a:t>This is a catchall category for the daily work of an IT department. This includes providing tech support, network maintenance, communication protocols, security testing and device management duties.</a:t>
            </a:r>
            <a:endParaRPr lang="en-PH" sz="4400" dirty="0">
              <a:ln>
                <a:solidFill>
                  <a:schemeClr val="accent2"/>
                </a:solidFill>
              </a:ln>
              <a:solidFill>
                <a:srgbClr val="FFFF00"/>
              </a:solidFill>
            </a:endParaRPr>
          </a:p>
        </p:txBody>
      </p:sp>
      <p:sp>
        <p:nvSpPr>
          <p:cNvPr id="4" name="Action Button: Go Forward or Next 3">
            <a:hlinkClick r:id="" action="ppaction://hlinkshowjump?jump=nextslide" highlightClick="1"/>
            <a:extLst>
              <a:ext uri="{FF2B5EF4-FFF2-40B4-BE49-F238E27FC236}">
                <a16:creationId xmlns:a16="http://schemas.microsoft.com/office/drawing/2014/main" id="{70D6D702-FD5B-922F-EC0B-24B3120EFA04}"/>
              </a:ext>
            </a:extLst>
          </p:cNvPr>
          <p:cNvSpPr/>
          <p:nvPr/>
        </p:nvSpPr>
        <p:spPr>
          <a:xfrm>
            <a:off x="10668001" y="5834699"/>
            <a:ext cx="727587" cy="483273"/>
          </a:xfrm>
          <a:prstGeom prst="actionButtonForwardNext">
            <a:avLst/>
          </a:prstGeom>
          <a:gradFill>
            <a:gsLst>
              <a:gs pos="0">
                <a:schemeClr val="accent2"/>
              </a:gs>
              <a:gs pos="50000">
                <a:schemeClr val="accent1"/>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Action Button: Go Back or Previous 4">
            <a:hlinkClick r:id="" action="ppaction://hlinkshowjump?jump=previousslide" highlightClick="1"/>
            <a:extLst>
              <a:ext uri="{FF2B5EF4-FFF2-40B4-BE49-F238E27FC236}">
                <a16:creationId xmlns:a16="http://schemas.microsoft.com/office/drawing/2014/main" id="{88735D64-D624-628E-5A88-DB7AA0D540D8}"/>
              </a:ext>
            </a:extLst>
          </p:cNvPr>
          <p:cNvSpPr/>
          <p:nvPr/>
        </p:nvSpPr>
        <p:spPr>
          <a:xfrm>
            <a:off x="796412" y="5834698"/>
            <a:ext cx="727588" cy="483274"/>
          </a:xfrm>
          <a:prstGeom prst="actionButtonBackPrevious">
            <a:avLst/>
          </a:prstGeom>
          <a:gradFill>
            <a:gsLst>
              <a:gs pos="0">
                <a:schemeClr val="accent2"/>
              </a:gs>
              <a:gs pos="50000">
                <a:schemeClr val="accent1">
                  <a:lumMod val="97000"/>
                  <a:lumOff val="3000"/>
                </a:schemeClr>
              </a:gs>
              <a:gs pos="100000">
                <a:schemeClr val="accent1">
                  <a:lumMod val="60000"/>
                  <a:lumOff val="4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4163752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50F7E2-9A43-B1BD-8ED5-34B3328C1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424AEBF8-A1D6-515D-0375-C4476F3578EB}"/>
              </a:ext>
            </a:extLst>
          </p:cNvPr>
          <p:cNvSpPr>
            <a:spLocks noGrp="1"/>
          </p:cNvSpPr>
          <p:nvPr>
            <p:ph type="title"/>
          </p:nvPr>
        </p:nvSpPr>
        <p:spPr/>
        <p:txBody>
          <a:bodyPr>
            <a:normAutofit/>
          </a:bodyPr>
          <a:lstStyle/>
          <a:p>
            <a:pPr algn="ctr"/>
            <a:r>
              <a:rPr lang="en-PH" sz="5000" b="1" dirty="0">
                <a:ln>
                  <a:solidFill>
                    <a:schemeClr val="tx1"/>
                  </a:solidFill>
                </a:ln>
                <a:solidFill>
                  <a:srgbClr val="FFFF00"/>
                </a:solidFill>
              </a:rPr>
              <a:t>Hardware vs. Software</a:t>
            </a:r>
          </a:p>
        </p:txBody>
      </p:sp>
      <p:pic>
        <p:nvPicPr>
          <p:cNvPr id="7" name="hardware gif">
            <a:extLst>
              <a:ext uri="{FF2B5EF4-FFF2-40B4-BE49-F238E27FC236}">
                <a16:creationId xmlns:a16="http://schemas.microsoft.com/office/drawing/2014/main" id="{70DB8DBC-0DCB-C0DD-0465-E1C0CF3F0C4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52512" y="1891506"/>
            <a:ext cx="4752975" cy="4219575"/>
          </a:xfrm>
        </p:spPr>
      </p:pic>
      <p:pic>
        <p:nvPicPr>
          <p:cNvPr id="13" name="software gif">
            <a:extLst>
              <a:ext uri="{FF2B5EF4-FFF2-40B4-BE49-F238E27FC236}">
                <a16:creationId xmlns:a16="http://schemas.microsoft.com/office/drawing/2014/main" id="{10E9CEF3-34D5-B02F-646E-C73844D896D8}"/>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334250" y="2334419"/>
            <a:ext cx="2857500" cy="3333750"/>
          </a:xfrm>
        </p:spPr>
      </p:pic>
      <p:sp>
        <p:nvSpPr>
          <p:cNvPr id="14" name="hardware textbox">
            <a:extLst>
              <a:ext uri="{FF2B5EF4-FFF2-40B4-BE49-F238E27FC236}">
                <a16:creationId xmlns:a16="http://schemas.microsoft.com/office/drawing/2014/main" id="{5E10974C-538F-1311-C5FB-7E7E5520B59A}"/>
              </a:ext>
            </a:extLst>
          </p:cNvPr>
          <p:cNvSpPr txBox="1"/>
          <p:nvPr/>
        </p:nvSpPr>
        <p:spPr>
          <a:xfrm>
            <a:off x="12882563" y="1690688"/>
            <a:ext cx="4483510" cy="4324261"/>
          </a:xfrm>
          <a:prstGeom prst="rect">
            <a:avLst/>
          </a:prstGeom>
          <a:noFill/>
        </p:spPr>
        <p:txBody>
          <a:bodyPr wrap="square" rtlCol="0">
            <a:spAutoFit/>
          </a:bodyPr>
          <a:lstStyle/>
          <a:p>
            <a:pPr algn="ctr"/>
            <a:r>
              <a:rPr lang="en-US" sz="2500" b="0" i="0" u="none" strike="noStrike" dirty="0">
                <a:ln>
                  <a:solidFill>
                    <a:schemeClr val="accent2"/>
                  </a:solidFill>
                </a:ln>
                <a:solidFill>
                  <a:srgbClr val="FFFF00"/>
                </a:solidFill>
                <a:effectLst/>
                <a:latin typeface="Calibri" panose="020F0502020204030204" pitchFamily="34" charset="0"/>
              </a:rPr>
              <a:t>Hardware includes all the physical parts of a computer system. This includes hardware installed inside the computer like the motherboard, central processing unit and hard drive. Hardware also describes components that can be connected to the outside of a computer like a keyboard, mouse and printer.</a:t>
            </a:r>
            <a:endParaRPr lang="en-PH" sz="2500" dirty="0">
              <a:ln>
                <a:solidFill>
                  <a:schemeClr val="accent2"/>
                </a:solidFill>
              </a:ln>
              <a:solidFill>
                <a:srgbClr val="FFFF00"/>
              </a:solidFill>
            </a:endParaRPr>
          </a:p>
        </p:txBody>
      </p:sp>
      <p:sp>
        <p:nvSpPr>
          <p:cNvPr id="15" name="software textbox">
            <a:extLst>
              <a:ext uri="{FF2B5EF4-FFF2-40B4-BE49-F238E27FC236}">
                <a16:creationId xmlns:a16="http://schemas.microsoft.com/office/drawing/2014/main" id="{9AA19CB5-9CCA-6D1B-EC40-9B1923B605D7}"/>
              </a:ext>
            </a:extLst>
          </p:cNvPr>
          <p:cNvSpPr txBox="1"/>
          <p:nvPr/>
        </p:nvSpPr>
        <p:spPr>
          <a:xfrm>
            <a:off x="-4966771" y="1891506"/>
            <a:ext cx="3792727" cy="3554819"/>
          </a:xfrm>
          <a:prstGeom prst="rect">
            <a:avLst/>
          </a:prstGeom>
          <a:noFill/>
        </p:spPr>
        <p:txBody>
          <a:bodyPr wrap="square" rtlCol="0">
            <a:spAutoFit/>
          </a:bodyPr>
          <a:lstStyle/>
          <a:p>
            <a:pPr algn="ctr"/>
            <a:r>
              <a:rPr lang="en-US" sz="2500" b="1" i="0" u="none" strike="noStrike" dirty="0">
                <a:ln w="22225">
                  <a:solidFill>
                    <a:schemeClr val="accent2"/>
                  </a:solidFill>
                  <a:prstDash val="solid"/>
                </a:ln>
                <a:solidFill>
                  <a:srgbClr val="FFFF00"/>
                </a:solidFill>
                <a:latin typeface="Calibri" panose="020F0502020204030204" pitchFamily="34" charset="0"/>
              </a:rPr>
              <a:t>Unlike hardware, software is not something you can physically change. Software encompasses all the data, application and programs stored electronically, like an operating system or a video-editing tool.</a:t>
            </a:r>
            <a:endParaRPr lang="en-PH" sz="2500" b="1" dirty="0">
              <a:ln w="22225">
                <a:solidFill>
                  <a:schemeClr val="accent2"/>
                </a:solidFill>
                <a:prstDash val="solid"/>
              </a:ln>
              <a:solidFill>
                <a:srgbClr val="FFFF00"/>
              </a:solidFill>
            </a:endParaRPr>
          </a:p>
        </p:txBody>
      </p:sp>
    </p:spTree>
    <p:extLst>
      <p:ext uri="{BB962C8B-B14F-4D97-AF65-F5344CB8AC3E}">
        <p14:creationId xmlns:p14="http://schemas.microsoft.com/office/powerpoint/2010/main" val="22631084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gtEl>
                                      </p:cBhvr>
                                    </p:animEffect>
                                    <p:animScale>
                                      <p:cBhvr>
                                        <p:cTn id="7" dur="250" autoRev="1" fill="hold"/>
                                        <p:tgtEl>
                                          <p:spTgt spid="13"/>
                                        </p:tgtEl>
                                      </p:cBhvr>
                                      <p:by x="105000" y="105000"/>
                                    </p:animScale>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6" presetClass="emph" presetSubtype="0" fill="hold" nodeType="click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50F7E2-9A43-B1BD-8ED5-34B3328C1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424AEBF8-A1D6-515D-0375-C4476F3578EB}"/>
              </a:ext>
            </a:extLst>
          </p:cNvPr>
          <p:cNvSpPr>
            <a:spLocks noGrp="1"/>
          </p:cNvSpPr>
          <p:nvPr>
            <p:ph type="title"/>
          </p:nvPr>
        </p:nvSpPr>
        <p:spPr/>
        <p:txBody>
          <a:bodyPr>
            <a:normAutofit/>
          </a:bodyPr>
          <a:lstStyle/>
          <a:p>
            <a:pPr algn="ctr"/>
            <a:r>
              <a:rPr lang="en-PH" sz="5000" b="1" dirty="0">
                <a:ln>
                  <a:solidFill>
                    <a:schemeClr val="tx1"/>
                  </a:solidFill>
                </a:ln>
                <a:solidFill>
                  <a:srgbClr val="FFFF00"/>
                </a:solidFill>
              </a:rPr>
              <a:t>Hardware vs. Software</a:t>
            </a:r>
          </a:p>
        </p:txBody>
      </p:sp>
      <p:pic>
        <p:nvPicPr>
          <p:cNvPr id="7" name="hardware gif">
            <a:extLst>
              <a:ext uri="{FF2B5EF4-FFF2-40B4-BE49-F238E27FC236}">
                <a16:creationId xmlns:a16="http://schemas.microsoft.com/office/drawing/2014/main" id="{70DB8DBC-0DCB-C0DD-0465-E1C0CF3F0C4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52512" y="1891506"/>
            <a:ext cx="4752975" cy="4219575"/>
          </a:xfrm>
        </p:spPr>
      </p:pic>
      <p:pic>
        <p:nvPicPr>
          <p:cNvPr id="13" name="softwarer gif">
            <a:extLst>
              <a:ext uri="{FF2B5EF4-FFF2-40B4-BE49-F238E27FC236}">
                <a16:creationId xmlns:a16="http://schemas.microsoft.com/office/drawing/2014/main" id="{10E9CEF3-34D5-B02F-646E-C73844D896D8}"/>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304754" y="8499245"/>
            <a:ext cx="2857500" cy="3333750"/>
          </a:xfrm>
        </p:spPr>
      </p:pic>
      <p:sp>
        <p:nvSpPr>
          <p:cNvPr id="4" name="hardware textbox">
            <a:extLst>
              <a:ext uri="{FF2B5EF4-FFF2-40B4-BE49-F238E27FC236}">
                <a16:creationId xmlns:a16="http://schemas.microsoft.com/office/drawing/2014/main" id="{9AC7E782-3695-6D94-2AB9-A368A5AA1673}"/>
              </a:ext>
            </a:extLst>
          </p:cNvPr>
          <p:cNvSpPr txBox="1"/>
          <p:nvPr/>
        </p:nvSpPr>
        <p:spPr>
          <a:xfrm>
            <a:off x="6870290" y="1692969"/>
            <a:ext cx="4483510" cy="4324261"/>
          </a:xfrm>
          <a:prstGeom prst="rect">
            <a:avLst/>
          </a:prstGeom>
          <a:noFill/>
        </p:spPr>
        <p:txBody>
          <a:bodyPr wrap="square" rtlCol="0">
            <a:spAutoFit/>
          </a:bodyPr>
          <a:lstStyle/>
          <a:p>
            <a:pPr algn="ctr"/>
            <a:r>
              <a:rPr lang="en-US" sz="2500" b="0" i="0" u="none" strike="noStrike" dirty="0">
                <a:ln>
                  <a:solidFill>
                    <a:schemeClr val="accent2"/>
                  </a:solidFill>
                </a:ln>
                <a:solidFill>
                  <a:srgbClr val="FFFF00"/>
                </a:solidFill>
                <a:effectLst/>
                <a:latin typeface="Calibri" panose="020F0502020204030204" pitchFamily="34" charset="0"/>
              </a:rPr>
              <a:t>Hardware includes all the physical parts of a computer system. This includes hardware installed inside the computer like the motherboard, central processing unit and hard drive. Hardware also describes components that can be connected to the outside of a computer like a keyboard, mouse and printer.</a:t>
            </a:r>
            <a:endParaRPr lang="en-PH" sz="2500" dirty="0">
              <a:ln>
                <a:solidFill>
                  <a:schemeClr val="accent2"/>
                </a:solidFill>
              </a:ln>
              <a:solidFill>
                <a:srgbClr val="FFFF00"/>
              </a:solidFill>
            </a:endParaRPr>
          </a:p>
        </p:txBody>
      </p:sp>
      <p:sp>
        <p:nvSpPr>
          <p:cNvPr id="6" name="software textbox">
            <a:extLst>
              <a:ext uri="{FF2B5EF4-FFF2-40B4-BE49-F238E27FC236}">
                <a16:creationId xmlns:a16="http://schemas.microsoft.com/office/drawing/2014/main" id="{401A03E9-28CD-49B9-0FD1-E36FC7221E76}"/>
              </a:ext>
            </a:extLst>
          </p:cNvPr>
          <p:cNvSpPr txBox="1"/>
          <p:nvPr/>
        </p:nvSpPr>
        <p:spPr>
          <a:xfrm>
            <a:off x="-4966771" y="1891506"/>
            <a:ext cx="3792727" cy="3554819"/>
          </a:xfrm>
          <a:prstGeom prst="rect">
            <a:avLst/>
          </a:prstGeom>
          <a:noFill/>
        </p:spPr>
        <p:txBody>
          <a:bodyPr wrap="square" rtlCol="0">
            <a:spAutoFit/>
          </a:bodyPr>
          <a:lstStyle/>
          <a:p>
            <a:pPr algn="ctr"/>
            <a:r>
              <a:rPr lang="en-US" sz="2500" b="1" i="0" u="none" strike="noStrike" dirty="0">
                <a:ln w="22225">
                  <a:solidFill>
                    <a:schemeClr val="accent2"/>
                  </a:solidFill>
                  <a:prstDash val="solid"/>
                </a:ln>
                <a:solidFill>
                  <a:srgbClr val="FFFF00"/>
                </a:solidFill>
                <a:latin typeface="Calibri" panose="020F0502020204030204" pitchFamily="34" charset="0"/>
              </a:rPr>
              <a:t>Unlike hardware, software is not something you can physically change. Software encompasses all the data, application and programs stored electronically, like an operating system or a video-editing tool.</a:t>
            </a:r>
            <a:endParaRPr lang="en-PH" sz="2500" b="1" dirty="0">
              <a:ln w="22225">
                <a:solidFill>
                  <a:schemeClr val="accent2"/>
                </a:solidFill>
                <a:prstDash val="solid"/>
              </a:ln>
              <a:solidFill>
                <a:srgbClr val="FFFF00"/>
              </a:solidFill>
            </a:endParaRPr>
          </a:p>
        </p:txBody>
      </p:sp>
    </p:spTree>
    <p:extLst>
      <p:ext uri="{BB962C8B-B14F-4D97-AF65-F5344CB8AC3E}">
        <p14:creationId xmlns:p14="http://schemas.microsoft.com/office/powerpoint/2010/main" val="30328515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7"/>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50F7E2-9A43-B1BD-8ED5-34B3328C1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2178" cy="6858000"/>
          </a:xfrm>
          <a:prstGeom prst="rect">
            <a:avLst/>
          </a:prstGeom>
        </p:spPr>
      </p:pic>
      <p:sp>
        <p:nvSpPr>
          <p:cNvPr id="2" name="Title 1">
            <a:extLst>
              <a:ext uri="{FF2B5EF4-FFF2-40B4-BE49-F238E27FC236}">
                <a16:creationId xmlns:a16="http://schemas.microsoft.com/office/drawing/2014/main" id="{424AEBF8-A1D6-515D-0375-C4476F3578EB}"/>
              </a:ext>
            </a:extLst>
          </p:cNvPr>
          <p:cNvSpPr>
            <a:spLocks noGrp="1"/>
          </p:cNvSpPr>
          <p:nvPr>
            <p:ph type="title"/>
          </p:nvPr>
        </p:nvSpPr>
        <p:spPr/>
        <p:txBody>
          <a:bodyPr>
            <a:normAutofit/>
          </a:bodyPr>
          <a:lstStyle/>
          <a:p>
            <a:pPr algn="ctr"/>
            <a:r>
              <a:rPr lang="en-PH" sz="5000" b="1" dirty="0">
                <a:ln>
                  <a:solidFill>
                    <a:schemeClr val="tx1"/>
                  </a:solidFill>
                </a:ln>
                <a:solidFill>
                  <a:srgbClr val="FFFF00"/>
                </a:solidFill>
              </a:rPr>
              <a:t>Hardware vs. Software</a:t>
            </a:r>
          </a:p>
        </p:txBody>
      </p:sp>
      <p:pic>
        <p:nvPicPr>
          <p:cNvPr id="7" name="hardware gif">
            <a:extLst>
              <a:ext uri="{FF2B5EF4-FFF2-40B4-BE49-F238E27FC236}">
                <a16:creationId xmlns:a16="http://schemas.microsoft.com/office/drawing/2014/main" id="{70DB8DBC-0DCB-C0DD-0465-E1C0CF3F0C4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69990" y="7331868"/>
            <a:ext cx="4752975" cy="4219575"/>
          </a:xfrm>
        </p:spPr>
      </p:pic>
      <p:pic>
        <p:nvPicPr>
          <p:cNvPr id="13" name="software gif">
            <a:extLst>
              <a:ext uri="{FF2B5EF4-FFF2-40B4-BE49-F238E27FC236}">
                <a16:creationId xmlns:a16="http://schemas.microsoft.com/office/drawing/2014/main" id="{10E9CEF3-34D5-B02F-646E-C73844D896D8}"/>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334250" y="2334419"/>
            <a:ext cx="2857500" cy="3333750"/>
          </a:xfrm>
        </p:spPr>
      </p:pic>
      <p:sp>
        <p:nvSpPr>
          <p:cNvPr id="14" name="hardware textbox">
            <a:extLst>
              <a:ext uri="{FF2B5EF4-FFF2-40B4-BE49-F238E27FC236}">
                <a16:creationId xmlns:a16="http://schemas.microsoft.com/office/drawing/2014/main" id="{5E10974C-538F-1311-C5FB-7E7E5520B59A}"/>
              </a:ext>
            </a:extLst>
          </p:cNvPr>
          <p:cNvSpPr txBox="1"/>
          <p:nvPr/>
        </p:nvSpPr>
        <p:spPr>
          <a:xfrm>
            <a:off x="12882563" y="1690688"/>
            <a:ext cx="4483510" cy="4324261"/>
          </a:xfrm>
          <a:prstGeom prst="rect">
            <a:avLst/>
          </a:prstGeom>
          <a:noFill/>
        </p:spPr>
        <p:txBody>
          <a:bodyPr wrap="square" rtlCol="0">
            <a:spAutoFit/>
          </a:bodyPr>
          <a:lstStyle/>
          <a:p>
            <a:pPr algn="ctr"/>
            <a:r>
              <a:rPr lang="en-US" sz="2500" b="0" i="0" u="none" strike="noStrike" dirty="0">
                <a:ln>
                  <a:solidFill>
                    <a:schemeClr val="accent2"/>
                  </a:solidFill>
                </a:ln>
                <a:solidFill>
                  <a:srgbClr val="FFFF00"/>
                </a:solidFill>
                <a:effectLst/>
                <a:latin typeface="Calibri" panose="020F0502020204030204" pitchFamily="34" charset="0"/>
              </a:rPr>
              <a:t>Hardware includes all the physical parts of a computer system. This includes hardware installed inside the computer like the motherboard, central processing unit and hard drive. Hardware also describes components that can be connected to the outside of a computer like a keyboard, mouse and printer.</a:t>
            </a:r>
            <a:endParaRPr lang="en-PH" sz="2500" dirty="0">
              <a:ln>
                <a:solidFill>
                  <a:schemeClr val="accent2"/>
                </a:solidFill>
              </a:ln>
              <a:solidFill>
                <a:srgbClr val="FFFF00"/>
              </a:solidFill>
            </a:endParaRPr>
          </a:p>
        </p:txBody>
      </p:sp>
      <p:sp>
        <p:nvSpPr>
          <p:cNvPr id="3" name="software textbox">
            <a:extLst>
              <a:ext uri="{FF2B5EF4-FFF2-40B4-BE49-F238E27FC236}">
                <a16:creationId xmlns:a16="http://schemas.microsoft.com/office/drawing/2014/main" id="{66E441C9-7A70-F49B-C913-73F46955F3F1}"/>
              </a:ext>
            </a:extLst>
          </p:cNvPr>
          <p:cNvSpPr txBox="1"/>
          <p:nvPr/>
        </p:nvSpPr>
        <p:spPr>
          <a:xfrm>
            <a:off x="1301000" y="2113350"/>
            <a:ext cx="3792727" cy="3554819"/>
          </a:xfrm>
          <a:prstGeom prst="rect">
            <a:avLst/>
          </a:prstGeom>
          <a:noFill/>
        </p:spPr>
        <p:txBody>
          <a:bodyPr wrap="square" rtlCol="0">
            <a:spAutoFit/>
          </a:bodyPr>
          <a:lstStyle/>
          <a:p>
            <a:pPr algn="ctr"/>
            <a:r>
              <a:rPr lang="en-US" sz="2500" b="1" i="0" u="none" strike="noStrike" dirty="0">
                <a:ln w="22225">
                  <a:solidFill>
                    <a:schemeClr val="accent2"/>
                  </a:solidFill>
                  <a:prstDash val="solid"/>
                </a:ln>
                <a:solidFill>
                  <a:srgbClr val="FFFF00"/>
                </a:solidFill>
                <a:latin typeface="Calibri" panose="020F0502020204030204" pitchFamily="34" charset="0"/>
              </a:rPr>
              <a:t>Unlike hardware, software is not something you can physically change. Software encompasses all the data, application and programs stored electronically, like an operating system or a video-editing tool.</a:t>
            </a:r>
            <a:endParaRPr lang="en-PH" sz="2500" b="1" dirty="0">
              <a:ln w="22225">
                <a:solidFill>
                  <a:schemeClr val="accent2"/>
                </a:solidFill>
                <a:prstDash val="solid"/>
              </a:ln>
              <a:solidFill>
                <a:srgbClr val="FFFF00"/>
              </a:solidFill>
            </a:endParaRPr>
          </a:p>
        </p:txBody>
      </p:sp>
    </p:spTree>
    <p:extLst>
      <p:ext uri="{BB962C8B-B14F-4D97-AF65-F5344CB8AC3E}">
        <p14:creationId xmlns:p14="http://schemas.microsoft.com/office/powerpoint/2010/main" val="22939230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651</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Aharoni</vt:lpstr>
      <vt:lpstr>Arial</vt:lpstr>
      <vt:lpstr>Calibri</vt:lpstr>
      <vt:lpstr>Calibri Light</vt:lpstr>
      <vt:lpstr>Office Theme</vt:lpstr>
      <vt:lpstr>What Is Information Technology? A Beginner’s Guide to the World of IT.</vt:lpstr>
      <vt:lpstr>What is information technology and what does it encompass?</vt:lpstr>
      <vt:lpstr>IT governance:</vt:lpstr>
      <vt:lpstr>IT operations:</vt:lpstr>
      <vt:lpstr>Hardware and Software Infastructure</vt:lpstr>
      <vt:lpstr>IT operations:</vt:lpstr>
      <vt:lpstr>Hardware vs. Software</vt:lpstr>
      <vt:lpstr>Hardware vs. Software</vt:lpstr>
      <vt:lpstr>Hardware vs.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Information Technology? A Beginner’s Guide to the World of IT.</dc:title>
  <dc:creator>John Deniel Enriquez</dc:creator>
  <cp:lastModifiedBy>John Deniel Enriquez</cp:lastModifiedBy>
  <cp:revision>1</cp:revision>
  <dcterms:created xsi:type="dcterms:W3CDTF">2023-05-24T07:50:30Z</dcterms:created>
  <dcterms:modified xsi:type="dcterms:W3CDTF">2023-05-24T09:12:41Z</dcterms:modified>
</cp:coreProperties>
</file>